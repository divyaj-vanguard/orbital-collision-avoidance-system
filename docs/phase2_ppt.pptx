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3244850" cx="5765800"/>
  <p:notesSz cx="5765800" cy="3244850"/>
  <p:embeddedFontLs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D6C5B7-167B-46FB-B2D7-D431D008460F}">
  <a:tblStyle styleId="{94D6C5B7-167B-46FB-B2D7-D431D00846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Tahoma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321894" y="913470"/>
            <a:ext cx="2322195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1337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350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1337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350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1337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350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1337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350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1337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350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5401932" y="72605"/>
            <a:ext cx="0" cy="223520"/>
          </a:xfrm>
          <a:custGeom>
            <a:rect b="b" l="l" r="r" t="t"/>
            <a:pathLst>
              <a:path extrusionOk="0" h="223520" w="120000">
                <a:moveTo>
                  <a:pt x="0" y="223202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5399392" y="75145"/>
            <a:ext cx="223520" cy="0"/>
          </a:xfrm>
          <a:custGeom>
            <a:rect b="b" l="l" r="r" t="t"/>
            <a:pathLst>
              <a:path extrusionOk="0" h="120000" w="223520">
                <a:moveTo>
                  <a:pt x="0" y="0"/>
                </a:moveTo>
                <a:lnTo>
                  <a:pt x="223189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321894" y="913470"/>
            <a:ext cx="2322195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>
                <a:solidFill>
                  <a:srgbClr val="1337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3505">
              <a:lnSpc>
                <a:spcPct val="112500"/>
              </a:lnSpc>
              <a:spcBef>
                <a:spcPts val="0"/>
              </a:spcBef>
              <a:buNone/>
              <a:defRPr b="0" i="0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350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-10" y="-19"/>
            <a:ext cx="5760085" cy="0"/>
          </a:xfrm>
          <a:custGeom>
            <a:rect b="b" l="l" r="r" t="t"/>
            <a:pathLst>
              <a:path extrusionOk="0" h="120000"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noFill/>
          <a:ln cap="flat" cmpd="sng" w="37950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7"/>
          <p:cNvGrpSpPr/>
          <p:nvPr/>
        </p:nvGrpSpPr>
        <p:grpSpPr>
          <a:xfrm>
            <a:off x="5189296" y="174713"/>
            <a:ext cx="360045" cy="360045"/>
            <a:chOff x="5189296" y="174713"/>
            <a:chExt cx="360045" cy="360045"/>
          </a:xfrm>
        </p:grpSpPr>
        <p:sp>
          <p:nvSpPr>
            <p:cNvPr id="47" name="Google Shape;47;p7"/>
            <p:cNvSpPr/>
            <p:nvPr/>
          </p:nvSpPr>
          <p:spPr>
            <a:xfrm>
              <a:off x="5191836" y="174713"/>
              <a:ext cx="0" cy="360045"/>
            </a:xfrm>
            <a:custGeom>
              <a:rect b="b" l="l" r="r" t="t"/>
              <a:pathLst>
                <a:path extrusionOk="0" h="360045" w="120000">
                  <a:moveTo>
                    <a:pt x="0" y="35999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5189296" y="177241"/>
              <a:ext cx="360045" cy="0"/>
            </a:xfrm>
            <a:custGeom>
              <a:rect b="b" l="l" r="r" t="t"/>
              <a:pathLst>
                <a:path extrusionOk="0" h="120000" w="360045">
                  <a:moveTo>
                    <a:pt x="0" y="0"/>
                  </a:moveTo>
                  <a:lnTo>
                    <a:pt x="35999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7"/>
          <p:cNvSpPr txBox="1"/>
          <p:nvPr/>
        </p:nvSpPr>
        <p:spPr>
          <a:xfrm>
            <a:off x="5222786" y="230402"/>
            <a:ext cx="534670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graphic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" name="Google Shape;50;p7"/>
          <p:cNvGrpSpPr/>
          <p:nvPr/>
        </p:nvGrpSpPr>
        <p:grpSpPr>
          <a:xfrm>
            <a:off x="5189296" y="174713"/>
            <a:ext cx="360045" cy="360045"/>
            <a:chOff x="5189296" y="174713"/>
            <a:chExt cx="360045" cy="360045"/>
          </a:xfrm>
        </p:grpSpPr>
        <p:sp>
          <p:nvSpPr>
            <p:cNvPr id="51" name="Google Shape;51;p7"/>
            <p:cNvSpPr/>
            <p:nvPr/>
          </p:nvSpPr>
          <p:spPr>
            <a:xfrm>
              <a:off x="5189296" y="532180"/>
              <a:ext cx="360045" cy="0"/>
            </a:xfrm>
            <a:custGeom>
              <a:rect b="b" l="l" r="r" t="t"/>
              <a:pathLst>
                <a:path extrusionOk="0" h="120000" w="360045">
                  <a:moveTo>
                    <a:pt x="0" y="0"/>
                  </a:moveTo>
                  <a:lnTo>
                    <a:pt x="359994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546762" y="174713"/>
              <a:ext cx="0" cy="360045"/>
            </a:xfrm>
            <a:custGeom>
              <a:rect b="b" l="l" r="r" t="t"/>
              <a:pathLst>
                <a:path extrusionOk="0" h="360045" w="120000">
                  <a:moveTo>
                    <a:pt x="0" y="35999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53" name="Google Shape;53;p7"/>
          <p:cNvSpPr txBox="1"/>
          <p:nvPr>
            <p:ph type="title"/>
          </p:nvPr>
        </p:nvSpPr>
        <p:spPr>
          <a:xfrm>
            <a:off x="642378" y="819694"/>
            <a:ext cx="4474845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/>
              <a:t>PROJECT-BASED LEARNING</a:t>
            </a:r>
            <a:endParaRPr sz="2450"/>
          </a:p>
        </p:txBody>
      </p:sp>
      <p:sp>
        <p:nvSpPr>
          <p:cNvPr id="54" name="Google Shape;54;p7"/>
          <p:cNvSpPr txBox="1"/>
          <p:nvPr/>
        </p:nvSpPr>
        <p:spPr>
          <a:xfrm>
            <a:off x="1804212" y="1195928"/>
            <a:ext cx="2152015" cy="97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rebuchet MS"/>
                <a:ea typeface="Trebuchet MS"/>
                <a:cs typeface="Trebuchet MS"/>
                <a:sym typeface="Trebuchet MS"/>
              </a:rPr>
              <a:t>PHASE-II EVALUATION</a:t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Project Title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Team ID: XXXX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Department of Computer Science &amp; Engineering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Graphic Era (Deemed to be University), Dehradun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Academic Session 2026–27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" name="Google Shape;61;p8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62" name="Google Shape;62;p8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64" name="Google Shape;64;p8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Team &amp; Mentor Details</a:t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309193" y="1136763"/>
            <a:ext cx="2520950" cy="187960"/>
          </a:xfrm>
          <a:custGeom>
            <a:rect b="b" l="l" r="r" t="t"/>
            <a:pathLst>
              <a:path extrusionOk="0" h="187959" w="2520950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 txBox="1"/>
          <p:nvPr/>
        </p:nvSpPr>
        <p:spPr>
          <a:xfrm>
            <a:off x="347294" y="1115781"/>
            <a:ext cx="1129665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Team Information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930016" y="1136763"/>
            <a:ext cx="2520950" cy="187960"/>
          </a:xfrm>
          <a:custGeom>
            <a:rect b="b" l="l" r="r" t="t"/>
            <a:pathLst>
              <a:path extrusionOk="0" h="187959" w="2520950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 txBox="1"/>
          <p:nvPr/>
        </p:nvSpPr>
        <p:spPr>
          <a:xfrm>
            <a:off x="2968117" y="1115781"/>
            <a:ext cx="985519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Team Members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0" name="Google Shape;70;p8"/>
          <p:cNvGrpSpPr/>
          <p:nvPr/>
        </p:nvGrpSpPr>
        <p:grpSpPr>
          <a:xfrm>
            <a:off x="309193" y="1311935"/>
            <a:ext cx="2520950" cy="802473"/>
            <a:chOff x="309193" y="1311935"/>
            <a:chExt cx="2520950" cy="802473"/>
          </a:xfrm>
        </p:grpSpPr>
        <p:pic>
          <p:nvPicPr>
            <p:cNvPr id="71" name="Google Shape;7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3" y="1311935"/>
              <a:ext cx="2520810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8"/>
            <p:cNvSpPr/>
            <p:nvPr/>
          </p:nvSpPr>
          <p:spPr>
            <a:xfrm>
              <a:off x="309193" y="1356218"/>
              <a:ext cx="2520950" cy="758190"/>
            </a:xfrm>
            <a:custGeom>
              <a:rect b="b" l="l" r="r" t="t"/>
              <a:pathLst>
                <a:path extrusionOk="0" h="758189" w="2520950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8"/>
          <p:cNvSpPr txBox="1"/>
          <p:nvPr/>
        </p:nvSpPr>
        <p:spPr>
          <a:xfrm>
            <a:off x="347294" y="1350732"/>
            <a:ext cx="65151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Team ID: Semester: Section: Domain: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1124839" y="1350732"/>
            <a:ext cx="56705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XXXX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3rd / 5th XX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XXXX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p8"/>
          <p:cNvGrpSpPr/>
          <p:nvPr/>
        </p:nvGrpSpPr>
        <p:grpSpPr>
          <a:xfrm>
            <a:off x="2930016" y="1311935"/>
            <a:ext cx="2520950" cy="726901"/>
            <a:chOff x="2930016" y="1311935"/>
            <a:chExt cx="2520950" cy="726901"/>
          </a:xfrm>
        </p:grpSpPr>
        <p:pic>
          <p:nvPicPr>
            <p:cNvPr id="76" name="Google Shape;7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30016" y="1311935"/>
              <a:ext cx="2520810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8"/>
            <p:cNvSpPr/>
            <p:nvPr/>
          </p:nvSpPr>
          <p:spPr>
            <a:xfrm>
              <a:off x="2930016" y="1356211"/>
              <a:ext cx="2520950" cy="682625"/>
            </a:xfrm>
            <a:custGeom>
              <a:rect b="b" l="l" r="r" t="t"/>
              <a:pathLst>
                <a:path extrusionOk="0" h="682625" w="2520950">
                  <a:moveTo>
                    <a:pt x="2520810" y="0"/>
                  </a:moveTo>
                  <a:lnTo>
                    <a:pt x="0" y="0"/>
                  </a:lnTo>
                  <a:lnTo>
                    <a:pt x="0" y="631376"/>
                  </a:lnTo>
                  <a:lnTo>
                    <a:pt x="4008" y="651100"/>
                  </a:lnTo>
                  <a:lnTo>
                    <a:pt x="14922" y="667253"/>
                  </a:lnTo>
                  <a:lnTo>
                    <a:pt x="31075" y="678167"/>
                  </a:lnTo>
                  <a:lnTo>
                    <a:pt x="50800" y="682176"/>
                  </a:lnTo>
                  <a:lnTo>
                    <a:pt x="2470010" y="682176"/>
                  </a:lnTo>
                  <a:lnTo>
                    <a:pt x="2489735" y="678167"/>
                  </a:lnTo>
                  <a:lnTo>
                    <a:pt x="2505888" y="667253"/>
                  </a:lnTo>
                  <a:lnTo>
                    <a:pt x="2516802" y="651100"/>
                  </a:lnTo>
                  <a:lnTo>
                    <a:pt x="2520810" y="631376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8"/>
          <p:cNvSpPr txBox="1"/>
          <p:nvPr/>
        </p:nvSpPr>
        <p:spPr>
          <a:xfrm>
            <a:off x="2968117" y="1326488"/>
            <a:ext cx="1407795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245745" lvl="0" marL="2584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Student Name – ID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45745" lvl="0" marL="25844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Student Name – ID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45745" lvl="0" marL="25844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Student Name – ID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45745" lvl="0" marL="25844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Student Name – ID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8"/>
          <p:cNvGrpSpPr/>
          <p:nvPr/>
        </p:nvGrpSpPr>
        <p:grpSpPr>
          <a:xfrm>
            <a:off x="309193" y="2274823"/>
            <a:ext cx="5142230" cy="427724"/>
            <a:chOff x="309193" y="2274823"/>
            <a:chExt cx="5142230" cy="427724"/>
          </a:xfrm>
        </p:grpSpPr>
        <p:sp>
          <p:nvSpPr>
            <p:cNvPr id="80" name="Google Shape;80;p8"/>
            <p:cNvSpPr/>
            <p:nvPr/>
          </p:nvSpPr>
          <p:spPr>
            <a:xfrm>
              <a:off x="309193" y="2274823"/>
              <a:ext cx="5142230" cy="187960"/>
            </a:xfrm>
            <a:custGeom>
              <a:rect b="b" l="l" r="r" t="t"/>
              <a:pathLst>
                <a:path extrusionOk="0" h="187960" w="514223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193" y="2449995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8"/>
            <p:cNvSpPr/>
            <p:nvPr/>
          </p:nvSpPr>
          <p:spPr>
            <a:xfrm>
              <a:off x="309193" y="2494268"/>
              <a:ext cx="5142230" cy="208279"/>
            </a:xfrm>
            <a:custGeom>
              <a:rect b="b" l="l" r="r" t="t"/>
              <a:pathLst>
                <a:path extrusionOk="0" h="208280" w="5142230">
                  <a:moveTo>
                    <a:pt x="5141666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5090865" y="208279"/>
                  </a:lnTo>
                  <a:lnTo>
                    <a:pt x="5110590" y="204270"/>
                  </a:lnTo>
                  <a:lnTo>
                    <a:pt x="5126743" y="193356"/>
                  </a:lnTo>
                  <a:lnTo>
                    <a:pt x="5137657" y="177203"/>
                  </a:lnTo>
                  <a:lnTo>
                    <a:pt x="5141666" y="15747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8"/>
          <p:cNvSpPr txBox="1"/>
          <p:nvPr/>
        </p:nvSpPr>
        <p:spPr>
          <a:xfrm>
            <a:off x="347294" y="2214136"/>
            <a:ext cx="5097145" cy="783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Mentor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Dr. / Mr. / Ms. Mentor Name	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Interactions completed: </a:t>
            </a:r>
            <a:r>
              <a:rPr lang="en-US" sz="1100" u="sng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Introduce the team, project domain, mentor, and responsibilities of the team members.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85" name="Google Shape;85;p8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350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9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92" name="Google Shape;92;p9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94" name="Google Shape;94;p9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Phase-I Recap &amp; Feedback Incorporated</a:t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9"/>
          <p:cNvGrpSpPr/>
          <p:nvPr/>
        </p:nvGrpSpPr>
        <p:grpSpPr>
          <a:xfrm>
            <a:off x="309193" y="1110411"/>
            <a:ext cx="5142230" cy="412486"/>
            <a:chOff x="309193" y="1110411"/>
            <a:chExt cx="5142230" cy="412486"/>
          </a:xfrm>
        </p:grpSpPr>
        <p:sp>
          <p:nvSpPr>
            <p:cNvPr id="97" name="Google Shape;97;p9"/>
            <p:cNvSpPr/>
            <p:nvPr/>
          </p:nvSpPr>
          <p:spPr>
            <a:xfrm>
              <a:off x="309193" y="1110411"/>
              <a:ext cx="5142230" cy="187960"/>
            </a:xfrm>
            <a:custGeom>
              <a:rect b="b" l="l" r="r" t="t"/>
              <a:pathLst>
                <a:path extrusionOk="0" h="187959" w="514223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" name="Google Shape;9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3" y="1285582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9"/>
            <p:cNvSpPr/>
            <p:nvPr/>
          </p:nvSpPr>
          <p:spPr>
            <a:xfrm>
              <a:off x="309193" y="1329857"/>
              <a:ext cx="5142230" cy="193040"/>
            </a:xfrm>
            <a:custGeom>
              <a:rect b="b" l="l" r="r" t="t"/>
              <a:pathLst>
                <a:path extrusionOk="0" h="193040" w="5142230">
                  <a:moveTo>
                    <a:pt x="5141666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090865" y="192885"/>
                  </a:lnTo>
                  <a:lnTo>
                    <a:pt x="5110590" y="188876"/>
                  </a:lnTo>
                  <a:lnTo>
                    <a:pt x="5126743" y="177962"/>
                  </a:lnTo>
                  <a:lnTo>
                    <a:pt x="5137657" y="161809"/>
                  </a:lnTo>
                  <a:lnTo>
                    <a:pt x="5141666" y="142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9"/>
          <p:cNvSpPr txBox="1"/>
          <p:nvPr/>
        </p:nvSpPr>
        <p:spPr>
          <a:xfrm>
            <a:off x="347294" y="1058158"/>
            <a:ext cx="3916045" cy="433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Phase-I Status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Briefly summarize what was proposed and achieved during Phase-I.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321894" y="1631693"/>
            <a:ext cx="1794510" cy="840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Feedback Received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Suggestion / Feedback 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Suggestion / Feedback 2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Suggestion / Feedback 3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2942717" y="1631693"/>
            <a:ext cx="1456055" cy="840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Changes Incorporated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Modification 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Modification 2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Modification 3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347294" y="2520772"/>
            <a:ext cx="497141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Explain the major feedback received during Phase-I and clearly demonstrate how it has been incorporated.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105" name="Google Shape;105;p9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350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10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112" name="Google Shape;112;p10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114" name="Google Shape;114;p10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 &amp; Finalized Objectives</a:t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>
            <a:off x="309193" y="1026654"/>
            <a:ext cx="5142230" cy="412487"/>
            <a:chOff x="309193" y="1026654"/>
            <a:chExt cx="5142230" cy="412487"/>
          </a:xfrm>
        </p:grpSpPr>
        <p:sp>
          <p:nvSpPr>
            <p:cNvPr id="117" name="Google Shape;117;p10"/>
            <p:cNvSpPr/>
            <p:nvPr/>
          </p:nvSpPr>
          <p:spPr>
            <a:xfrm>
              <a:off x="309193" y="1026654"/>
              <a:ext cx="5142230" cy="187960"/>
            </a:xfrm>
            <a:custGeom>
              <a:rect b="b" l="l" r="r" t="t"/>
              <a:pathLst>
                <a:path extrusionOk="0" h="187959" w="514223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" name="Google Shape;1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3" y="1201826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0"/>
            <p:cNvSpPr/>
            <p:nvPr/>
          </p:nvSpPr>
          <p:spPr>
            <a:xfrm>
              <a:off x="309193" y="1246101"/>
              <a:ext cx="5142230" cy="193040"/>
            </a:xfrm>
            <a:custGeom>
              <a:rect b="b" l="l" r="r" t="t"/>
              <a:pathLst>
                <a:path extrusionOk="0" h="193040" w="5142230">
                  <a:moveTo>
                    <a:pt x="5141666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090865" y="192885"/>
                  </a:lnTo>
                  <a:lnTo>
                    <a:pt x="5110590" y="188876"/>
                  </a:lnTo>
                  <a:lnTo>
                    <a:pt x="5126743" y="177962"/>
                  </a:lnTo>
                  <a:lnTo>
                    <a:pt x="5137657" y="161809"/>
                  </a:lnTo>
                  <a:lnTo>
                    <a:pt x="5141666" y="142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0"/>
          <p:cNvSpPr txBox="1"/>
          <p:nvPr/>
        </p:nvSpPr>
        <p:spPr>
          <a:xfrm>
            <a:off x="347294" y="974401"/>
            <a:ext cx="5060315" cy="204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Problem Statement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State the finalized problem being addressed after incorporating Phase-I feedback.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Finalized Objectives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Objective 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Objective 2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Objective 3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Objective 4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411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Avoid repeating the complete Phase-I presentation. Focus on the finalized problem, scope and measurable objectives.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122" name="Google Shape;122;p10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350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11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129" name="Google Shape;129;p11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131" name="Google Shape;131;p11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Updated System Architecture / Workflow</a:t>
            </a:r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475865" y="1107381"/>
            <a:ext cx="756285" cy="356870"/>
            <a:chOff x="475865" y="1107381"/>
            <a:chExt cx="756285" cy="356870"/>
          </a:xfrm>
        </p:grpSpPr>
        <p:sp>
          <p:nvSpPr>
            <p:cNvPr id="134" name="Google Shape;134;p11"/>
            <p:cNvSpPr/>
            <p:nvPr/>
          </p:nvSpPr>
          <p:spPr>
            <a:xfrm>
              <a:off x="475865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0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475865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0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1"/>
          <p:cNvSpPr txBox="1"/>
          <p:nvPr/>
        </p:nvSpPr>
        <p:spPr>
          <a:xfrm>
            <a:off x="701116" y="1102199"/>
            <a:ext cx="30607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127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Input Layer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7" name="Google Shape;137;p11"/>
          <p:cNvGrpSpPr/>
          <p:nvPr/>
        </p:nvGrpSpPr>
        <p:grpSpPr>
          <a:xfrm>
            <a:off x="1488941" y="1107381"/>
            <a:ext cx="756285" cy="356870"/>
            <a:chOff x="1488941" y="1107381"/>
            <a:chExt cx="756285" cy="356870"/>
          </a:xfrm>
        </p:grpSpPr>
        <p:sp>
          <p:nvSpPr>
            <p:cNvPr id="138" name="Google Shape;138;p11"/>
            <p:cNvSpPr/>
            <p:nvPr/>
          </p:nvSpPr>
          <p:spPr>
            <a:xfrm>
              <a:off x="1488941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0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1488941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0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1"/>
          <p:cNvSpPr txBox="1"/>
          <p:nvPr/>
        </p:nvSpPr>
        <p:spPr>
          <a:xfrm>
            <a:off x="1574647" y="1102199"/>
            <a:ext cx="58420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39700" lvl="0" marL="1517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Processing Layer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502017" y="1107381"/>
            <a:ext cx="756285" cy="356870"/>
            <a:chOff x="2502017" y="1107381"/>
            <a:chExt cx="756285" cy="356870"/>
          </a:xfrm>
        </p:grpSpPr>
        <p:sp>
          <p:nvSpPr>
            <p:cNvPr id="142" name="Google Shape;142;p11"/>
            <p:cNvSpPr/>
            <p:nvPr/>
          </p:nvSpPr>
          <p:spPr>
            <a:xfrm>
              <a:off x="2502017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2502017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1"/>
          <p:cNvSpPr txBox="1"/>
          <p:nvPr/>
        </p:nvSpPr>
        <p:spPr>
          <a:xfrm>
            <a:off x="2726537" y="1102199"/>
            <a:ext cx="30734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2032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Core Logic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5" name="Google Shape;145;p11"/>
          <p:cNvGrpSpPr/>
          <p:nvPr/>
        </p:nvGrpSpPr>
        <p:grpSpPr>
          <a:xfrm>
            <a:off x="3515093" y="1107381"/>
            <a:ext cx="756285" cy="356870"/>
            <a:chOff x="3515093" y="1107381"/>
            <a:chExt cx="756285" cy="356870"/>
          </a:xfrm>
        </p:grpSpPr>
        <p:sp>
          <p:nvSpPr>
            <p:cNvPr id="146" name="Google Shape;146;p11"/>
            <p:cNvSpPr/>
            <p:nvPr/>
          </p:nvSpPr>
          <p:spPr>
            <a:xfrm>
              <a:off x="3515093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3515093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11"/>
          <p:cNvSpPr txBox="1"/>
          <p:nvPr/>
        </p:nvSpPr>
        <p:spPr>
          <a:xfrm>
            <a:off x="3635565" y="1102199"/>
            <a:ext cx="514984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04775" lvl="0" marL="11683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Database Layer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9" name="Google Shape;149;p11"/>
          <p:cNvGrpSpPr/>
          <p:nvPr/>
        </p:nvGrpSpPr>
        <p:grpSpPr>
          <a:xfrm>
            <a:off x="1234408" y="1267521"/>
            <a:ext cx="3270646" cy="36830"/>
            <a:chOff x="1234408" y="1267521"/>
            <a:chExt cx="3270646" cy="36830"/>
          </a:xfrm>
        </p:grpSpPr>
        <p:sp>
          <p:nvSpPr>
            <p:cNvPr id="150" name="Google Shape;150;p11"/>
            <p:cNvSpPr/>
            <p:nvPr/>
          </p:nvSpPr>
          <p:spPr>
            <a:xfrm>
              <a:off x="1234408" y="1285709"/>
              <a:ext cx="185420" cy="0"/>
            </a:xfrm>
            <a:custGeom>
              <a:rect b="b" l="l" r="r" t="t"/>
              <a:pathLst>
                <a:path extrusionOk="0" h="120000"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noFill/>
            <a:ln cap="flat" cmpd="sng" w="10100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1419471" y="1267521"/>
              <a:ext cx="46355" cy="36830"/>
            </a:xfrm>
            <a:custGeom>
              <a:rect b="b" l="l" r="r" t="t"/>
              <a:pathLst>
                <a:path extrusionOk="0" h="36830" w="46355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1419471" y="1267521"/>
              <a:ext cx="46355" cy="36830"/>
            </a:xfrm>
            <a:custGeom>
              <a:rect b="b" l="l" r="r" t="t"/>
              <a:pathLst>
                <a:path extrusionOk="0" h="36830" w="46355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noFill/>
            <a:ln cap="flat" cmpd="sng" w="10100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2247484" y="1285709"/>
              <a:ext cx="185420" cy="0"/>
            </a:xfrm>
            <a:custGeom>
              <a:rect b="b" l="l" r="r" t="t"/>
              <a:pathLst>
                <a:path extrusionOk="0" h="120000"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noFill/>
            <a:ln cap="flat" cmpd="sng" w="10100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2432547" y="1267521"/>
              <a:ext cx="46355" cy="36830"/>
            </a:xfrm>
            <a:custGeom>
              <a:rect b="b" l="l" r="r" t="t"/>
              <a:pathLst>
                <a:path extrusionOk="0" h="36830" w="46355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2432547" y="1267521"/>
              <a:ext cx="46355" cy="36830"/>
            </a:xfrm>
            <a:custGeom>
              <a:rect b="b" l="l" r="r" t="t"/>
              <a:pathLst>
                <a:path extrusionOk="0" h="36830" w="46355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noFill/>
            <a:ln cap="flat" cmpd="sng" w="10100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3260559" y="1285709"/>
              <a:ext cx="185420" cy="0"/>
            </a:xfrm>
            <a:custGeom>
              <a:rect b="b" l="l" r="r" t="t"/>
              <a:pathLst>
                <a:path extrusionOk="0" h="120000"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noFill/>
            <a:ln cap="flat" cmpd="sng" w="10100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3445622" y="1267521"/>
              <a:ext cx="46355" cy="36830"/>
            </a:xfrm>
            <a:custGeom>
              <a:rect b="b" l="l" r="r" t="t"/>
              <a:pathLst>
                <a:path extrusionOk="0" h="36830" w="46354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3445622" y="1267521"/>
              <a:ext cx="46355" cy="36830"/>
            </a:xfrm>
            <a:custGeom>
              <a:rect b="b" l="l" r="r" t="t"/>
              <a:pathLst>
                <a:path extrusionOk="0" h="36830" w="46354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noFill/>
            <a:ln cap="flat" cmpd="sng" w="10100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4273635" y="1285709"/>
              <a:ext cx="185420" cy="0"/>
            </a:xfrm>
            <a:custGeom>
              <a:rect b="b" l="l" r="r" t="t"/>
              <a:pathLst>
                <a:path extrusionOk="0" h="120000"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noFill/>
            <a:ln cap="flat" cmpd="sng" w="10100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4458699" y="1267521"/>
              <a:ext cx="46355" cy="36830"/>
            </a:xfrm>
            <a:custGeom>
              <a:rect b="b" l="l" r="r" t="t"/>
              <a:pathLst>
                <a:path extrusionOk="0" h="36830" w="46354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4458699" y="1267521"/>
              <a:ext cx="46355" cy="36830"/>
            </a:xfrm>
            <a:custGeom>
              <a:rect b="b" l="l" r="r" t="t"/>
              <a:pathLst>
                <a:path extrusionOk="0" h="36830" w="46354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noFill/>
            <a:ln cap="flat" cmpd="sng" w="10100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p11"/>
          <p:cNvGrpSpPr/>
          <p:nvPr/>
        </p:nvGrpSpPr>
        <p:grpSpPr>
          <a:xfrm>
            <a:off x="4528169" y="1107381"/>
            <a:ext cx="756285" cy="356870"/>
            <a:chOff x="4528169" y="1107381"/>
            <a:chExt cx="756285" cy="356870"/>
          </a:xfrm>
        </p:grpSpPr>
        <p:sp>
          <p:nvSpPr>
            <p:cNvPr id="163" name="Google Shape;163;p11"/>
            <p:cNvSpPr/>
            <p:nvPr/>
          </p:nvSpPr>
          <p:spPr>
            <a:xfrm>
              <a:off x="4528169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4528169" y="1107381"/>
              <a:ext cx="756285" cy="356870"/>
            </a:xfrm>
            <a:custGeom>
              <a:rect b="b" l="l" r="r" t="t"/>
              <a:pathLst>
                <a:path extrusionOk="0" h="356869" w="756285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05400" y="356656"/>
                  </a:lnTo>
                  <a:lnTo>
                    <a:pt x="725101" y="352678"/>
                  </a:lnTo>
                  <a:lnTo>
                    <a:pt x="741188" y="341832"/>
                  </a:lnTo>
                  <a:lnTo>
                    <a:pt x="752034" y="325745"/>
                  </a:lnTo>
                  <a:lnTo>
                    <a:pt x="756011" y="306045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13376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1"/>
          <p:cNvSpPr txBox="1"/>
          <p:nvPr/>
        </p:nvSpPr>
        <p:spPr>
          <a:xfrm>
            <a:off x="4703114" y="1102199"/>
            <a:ext cx="40640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0800" lvl="0" marL="628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Output Layer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321894" y="1736125"/>
            <a:ext cx="1291590" cy="840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Major Components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Component 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Component 2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Component 3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2942717" y="1736125"/>
            <a:ext cx="1519555" cy="840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Changes Since Phase-I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Architecture change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New component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Improved workflow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347294" y="2586685"/>
            <a:ext cx="502221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Present the updated architecture and explain how individual modules communicate with each other.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170" name="Google Shape;170;p11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350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p12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177" name="Google Shape;177;p12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2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179" name="Google Shape;179;p12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Module Design &amp; Functional Requirements</a:t>
            </a:r>
            <a:endParaRPr/>
          </a:p>
        </p:txBody>
      </p:sp>
      <p:sp>
        <p:nvSpPr>
          <p:cNvPr id="180" name="Google Shape;180;p12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 txBox="1"/>
          <p:nvPr/>
        </p:nvSpPr>
        <p:spPr>
          <a:xfrm>
            <a:off x="347294" y="997049"/>
            <a:ext cx="984250" cy="107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Major Modules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Module 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Module 2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Module 3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Module 4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2942717" y="997049"/>
            <a:ext cx="1848485" cy="107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Functional Requirements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Functional Requirement 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Functional Requirement 2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Functional Requirement 3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Functional Requirement 4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12"/>
          <p:cNvGrpSpPr/>
          <p:nvPr/>
        </p:nvGrpSpPr>
        <p:grpSpPr>
          <a:xfrm>
            <a:off x="309193" y="2244038"/>
            <a:ext cx="5142230" cy="423041"/>
            <a:chOff x="309193" y="2244038"/>
            <a:chExt cx="5142230" cy="423041"/>
          </a:xfrm>
        </p:grpSpPr>
        <p:sp>
          <p:nvSpPr>
            <p:cNvPr id="184" name="Google Shape;184;p12"/>
            <p:cNvSpPr/>
            <p:nvPr/>
          </p:nvSpPr>
          <p:spPr>
            <a:xfrm>
              <a:off x="309193" y="2244038"/>
              <a:ext cx="5142230" cy="198755"/>
            </a:xfrm>
            <a:custGeom>
              <a:rect b="b" l="l" r="r" t="t"/>
              <a:pathLst>
                <a:path extrusionOk="0" h="198755" w="514223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5141666" y="19836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5" name="Google Shape;18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3" y="242975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12"/>
            <p:cNvSpPr/>
            <p:nvPr/>
          </p:nvSpPr>
          <p:spPr>
            <a:xfrm>
              <a:off x="309193" y="2474039"/>
              <a:ext cx="5142230" cy="193040"/>
            </a:xfrm>
            <a:custGeom>
              <a:rect b="b" l="l" r="r" t="t"/>
              <a:pathLst>
                <a:path extrusionOk="0" h="193039" w="5142230">
                  <a:moveTo>
                    <a:pt x="5141666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090865" y="192885"/>
                  </a:lnTo>
                  <a:lnTo>
                    <a:pt x="5110590" y="188876"/>
                  </a:lnTo>
                  <a:lnTo>
                    <a:pt x="5126743" y="177962"/>
                  </a:lnTo>
                  <a:lnTo>
                    <a:pt x="5137657" y="161809"/>
                  </a:lnTo>
                  <a:lnTo>
                    <a:pt x="5141666" y="142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2"/>
          <p:cNvSpPr txBox="1"/>
          <p:nvPr/>
        </p:nvSpPr>
        <p:spPr>
          <a:xfrm>
            <a:off x="347294" y="2180234"/>
            <a:ext cx="4402455" cy="74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Module Dependency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Briefly describe dependencies and interactions between major modules.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Explain what each module does and how it contributes to the complete system.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189" name="Google Shape;189;p12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350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1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196" name="Google Shape;196;p13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198" name="Google Shape;198;p13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Technology Stack &amp; Development Methodology</a:t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309193" y="1220482"/>
            <a:ext cx="2520950" cy="198755"/>
          </a:xfrm>
          <a:custGeom>
            <a:rect b="b" l="l" r="r" t="t"/>
            <a:pathLst>
              <a:path extrusionOk="0" h="198755" w="2520950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 txBox="1"/>
          <p:nvPr/>
        </p:nvSpPr>
        <p:spPr>
          <a:xfrm>
            <a:off x="347294" y="1199487"/>
            <a:ext cx="1120775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Technology Stack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2930016" y="1220482"/>
            <a:ext cx="2520950" cy="198755"/>
          </a:xfrm>
          <a:custGeom>
            <a:rect b="b" l="l" r="r" t="t"/>
            <a:pathLst>
              <a:path extrusionOk="0" h="198755" w="2520950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2968117" y="1199487"/>
            <a:ext cx="1687830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Development Methodology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4" name="Google Shape;204;p13"/>
          <p:cNvGrpSpPr/>
          <p:nvPr/>
        </p:nvGrpSpPr>
        <p:grpSpPr>
          <a:xfrm>
            <a:off x="309193" y="1406194"/>
            <a:ext cx="2520950" cy="1042497"/>
            <a:chOff x="309193" y="1406194"/>
            <a:chExt cx="2520950" cy="1042497"/>
          </a:xfrm>
        </p:grpSpPr>
        <p:pic>
          <p:nvPicPr>
            <p:cNvPr id="205" name="Google Shape;20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3" y="1406194"/>
              <a:ext cx="2520810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3"/>
            <p:cNvSpPr/>
            <p:nvPr/>
          </p:nvSpPr>
          <p:spPr>
            <a:xfrm>
              <a:off x="309193" y="1450472"/>
              <a:ext cx="2520950" cy="998219"/>
            </a:xfrm>
            <a:custGeom>
              <a:rect b="b" l="l" r="r" t="t"/>
              <a:pathLst>
                <a:path extrusionOk="0" h="998219" w="2520950">
                  <a:moveTo>
                    <a:pt x="2520810" y="0"/>
                  </a:moveTo>
                  <a:lnTo>
                    <a:pt x="0" y="0"/>
                  </a:lnTo>
                  <a:lnTo>
                    <a:pt x="0" y="947008"/>
                  </a:lnTo>
                  <a:lnTo>
                    <a:pt x="4008" y="966733"/>
                  </a:lnTo>
                  <a:lnTo>
                    <a:pt x="14922" y="982886"/>
                  </a:lnTo>
                  <a:lnTo>
                    <a:pt x="31075" y="993800"/>
                  </a:lnTo>
                  <a:lnTo>
                    <a:pt x="50800" y="997808"/>
                  </a:lnTo>
                  <a:lnTo>
                    <a:pt x="2470010" y="997808"/>
                  </a:lnTo>
                  <a:lnTo>
                    <a:pt x="2489735" y="993800"/>
                  </a:lnTo>
                  <a:lnTo>
                    <a:pt x="2505888" y="982886"/>
                  </a:lnTo>
                  <a:lnTo>
                    <a:pt x="2516802" y="966733"/>
                  </a:lnTo>
                  <a:lnTo>
                    <a:pt x="2520810" y="94700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13"/>
          <p:cNvSpPr txBox="1"/>
          <p:nvPr/>
        </p:nvSpPr>
        <p:spPr>
          <a:xfrm>
            <a:off x="421957" y="1397315"/>
            <a:ext cx="2185035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-177165" lvl="0" marL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Programming: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 / C++ / Other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21526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Database: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MySQL / PostgreSQL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215265" rtl="0" algn="l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Framework: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XXXX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215265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Development Tool: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XXXX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21526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Version Control: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/ GitHub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13"/>
          <p:cNvGrpSpPr/>
          <p:nvPr/>
        </p:nvGrpSpPr>
        <p:grpSpPr>
          <a:xfrm>
            <a:off x="2930016" y="1406194"/>
            <a:ext cx="2520950" cy="1027259"/>
            <a:chOff x="2930016" y="1406194"/>
            <a:chExt cx="2520950" cy="1027259"/>
          </a:xfrm>
        </p:grpSpPr>
        <p:pic>
          <p:nvPicPr>
            <p:cNvPr id="209" name="Google Shape;20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30016" y="1406194"/>
              <a:ext cx="2520810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3"/>
            <p:cNvSpPr/>
            <p:nvPr/>
          </p:nvSpPr>
          <p:spPr>
            <a:xfrm>
              <a:off x="2930016" y="1450473"/>
              <a:ext cx="2520950" cy="982980"/>
            </a:xfrm>
            <a:custGeom>
              <a:rect b="b" l="l" r="r" t="t"/>
              <a:pathLst>
                <a:path extrusionOk="0" h="982980" w="2520950">
                  <a:moveTo>
                    <a:pt x="2520810" y="0"/>
                  </a:moveTo>
                  <a:lnTo>
                    <a:pt x="0" y="0"/>
                  </a:lnTo>
                  <a:lnTo>
                    <a:pt x="0" y="931614"/>
                  </a:lnTo>
                  <a:lnTo>
                    <a:pt x="4008" y="951339"/>
                  </a:lnTo>
                  <a:lnTo>
                    <a:pt x="14922" y="967492"/>
                  </a:lnTo>
                  <a:lnTo>
                    <a:pt x="31075" y="978406"/>
                  </a:lnTo>
                  <a:lnTo>
                    <a:pt x="50800" y="982414"/>
                  </a:lnTo>
                  <a:lnTo>
                    <a:pt x="2470010" y="982414"/>
                  </a:lnTo>
                  <a:lnTo>
                    <a:pt x="2489735" y="978406"/>
                  </a:lnTo>
                  <a:lnTo>
                    <a:pt x="2505888" y="967492"/>
                  </a:lnTo>
                  <a:lnTo>
                    <a:pt x="2516802" y="951339"/>
                  </a:lnTo>
                  <a:lnTo>
                    <a:pt x="2520810" y="93161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13"/>
          <p:cNvSpPr txBox="1"/>
          <p:nvPr/>
        </p:nvSpPr>
        <p:spPr>
          <a:xfrm>
            <a:off x="3068180" y="1389618"/>
            <a:ext cx="144399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-177800" lvl="0" marL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Requirement Analysis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800" lvl="0" marL="19050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System Design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800" lvl="0" marL="190500" rtl="0" algn="l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Module Development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800" lvl="0" marL="19050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Integration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800" lvl="0" marL="19050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Testing &amp; Validation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347294" y="2502433"/>
            <a:ext cx="478409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Explain why the selected technologies are appropriate and how the team is following the development methodology.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214" name="Google Shape;214;p13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350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14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221" name="Google Shape;221;p14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223" name="Google Shape;223;p14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PBL Course Concepts</a:t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460781" y="1107198"/>
            <a:ext cx="4838700" cy="0"/>
          </a:xfrm>
          <a:custGeom>
            <a:rect b="b" l="l" r="r" t="t"/>
            <a:pathLst>
              <a:path extrusionOk="0" h="120000"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noFill/>
          <a:ln cap="flat" cmpd="sng" w="110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448081" y="1144014"/>
            <a:ext cx="341630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Tahoma"/>
                <a:ea typeface="Tahoma"/>
                <a:cs typeface="Tahoma"/>
                <a:sym typeface="Tahoma"/>
              </a:rPr>
              <a:t>Course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1679891" y="1144014"/>
            <a:ext cx="144843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Concepts Actually Implemented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4386703" y="1144014"/>
            <a:ext cx="718820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Project Module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460781" y="1331112"/>
            <a:ext cx="4838700" cy="0"/>
          </a:xfrm>
          <a:custGeom>
            <a:rect b="b" l="l" r="r" t="t"/>
            <a:pathLst>
              <a:path extrusionOk="0" h="120000"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 txBox="1"/>
          <p:nvPr/>
        </p:nvSpPr>
        <p:spPr>
          <a:xfrm>
            <a:off x="448081" y="1337056"/>
            <a:ext cx="995044" cy="326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Tahoma"/>
                <a:ea typeface="Tahoma"/>
                <a:cs typeface="Tahoma"/>
                <a:sym typeface="Tahoma"/>
              </a:rPr>
              <a:t>Data Structures in C OOPs with C++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1679932" y="1337056"/>
            <a:ext cx="2245995" cy="326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Arrays, Linked Lists, Trees, Graphs, Hashing, etc. Classes, Inheritance, Polymorphism, STL, etc.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4385691" y="1337056"/>
            <a:ext cx="468630" cy="326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Module X Module Y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460781" y="1703184"/>
            <a:ext cx="4838700" cy="0"/>
          </a:xfrm>
          <a:custGeom>
            <a:rect b="b" l="l" r="r" t="t"/>
            <a:pathLst>
              <a:path extrusionOk="0" h="120000"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448081" y="1737930"/>
            <a:ext cx="902969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Tahoma"/>
                <a:ea typeface="Tahoma"/>
                <a:cs typeface="Tahoma"/>
                <a:sym typeface="Tahoma"/>
              </a:rPr>
              <a:t>Operating Systems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5" name="Google Shape;235;p14"/>
          <p:cNvSpPr txBox="1"/>
          <p:nvPr/>
        </p:nvSpPr>
        <p:spPr>
          <a:xfrm>
            <a:off x="1679770" y="1737930"/>
            <a:ext cx="2579370" cy="41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Processes, Scheduling, Memory, IPC, Synchronization, etc.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SQL, Transactions, Normalization, Indexing, etc.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4386516" y="1737930"/>
            <a:ext cx="468630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Module X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448081" y="2008376"/>
            <a:ext cx="3409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Tahoma"/>
                <a:ea typeface="Tahoma"/>
                <a:cs typeface="Tahoma"/>
                <a:sym typeface="Tahoma"/>
              </a:rPr>
              <a:t>DBMS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4385236" y="2008376"/>
            <a:ext cx="46799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Module Y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460781" y="2197544"/>
            <a:ext cx="4838700" cy="0"/>
          </a:xfrm>
          <a:custGeom>
            <a:rect b="b" l="l" r="r" t="t"/>
            <a:pathLst>
              <a:path extrusionOk="0" h="120000"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noFill/>
          <a:ln cap="flat" cmpd="sng" w="110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 txBox="1"/>
          <p:nvPr/>
        </p:nvSpPr>
        <p:spPr>
          <a:xfrm>
            <a:off x="606501" y="2516885"/>
            <a:ext cx="4547235" cy="166370"/>
          </a:xfrm>
          <a:prstGeom prst="rect">
            <a:avLst/>
          </a:pr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Tahoma"/>
                <a:ea typeface="Tahoma"/>
                <a:cs typeface="Tahoma"/>
                <a:sym typeface="Tahoma"/>
              </a:rPr>
              <a:t>Important: 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Mention only those concepts that have been </a:t>
            </a:r>
            <a:r>
              <a:rPr b="1" lang="en-US" sz="800">
                <a:latin typeface="Tahoma"/>
                <a:ea typeface="Tahoma"/>
                <a:cs typeface="Tahoma"/>
                <a:sym typeface="Tahoma"/>
              </a:rPr>
              <a:t>actually implemented 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in the project.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347294" y="2794468"/>
            <a:ext cx="4780280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Students should explain where and how each course concept is technically implemented.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243" name="Google Shape;243;p14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350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" name="Google Shape;249;p15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250" name="Google Shape;250;p15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252" name="Google Shape;252;p15"/>
          <p:cNvSpPr txBox="1"/>
          <p:nvPr>
            <p:ph type="title"/>
          </p:nvPr>
        </p:nvSpPr>
        <p:spPr>
          <a:xfrm>
            <a:off x="347294" y="302841"/>
            <a:ext cx="349186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Development &amp; Implementation Progress</a:t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4" name="Google Shape;254;p15"/>
          <p:cNvGraphicFramePr/>
          <p:nvPr/>
        </p:nvGraphicFramePr>
        <p:xfrm>
          <a:off x="460781" y="1095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{94D6C5B7-167B-46FB-B2D7-D431D008460F}</a:tableStyleId>
              </a:tblPr>
              <a:tblGrid>
                <a:gridCol w="828050"/>
                <a:gridCol w="1125850"/>
                <a:gridCol w="2884175"/>
              </a:tblGrid>
              <a:tr h="22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Module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890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032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Status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890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209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Work Completed</a:t>
                      </a:r>
                      <a:endParaRPr sz="8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890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4032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2209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Implementation details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4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40322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20979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Implementation details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</a:tr>
              <a:tr h="14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40322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 Progress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20979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development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</a:tr>
              <a:tr h="17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03225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Pending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20979" marR="0" rtl="0" algn="l">
                        <a:lnSpc>
                          <a:spcPct val="119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Planned work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15"/>
          <p:cNvSpPr txBox="1"/>
          <p:nvPr/>
        </p:nvSpPr>
        <p:spPr>
          <a:xfrm>
            <a:off x="1186129" y="2347683"/>
            <a:ext cx="3388360" cy="172085"/>
          </a:xfrm>
          <a:prstGeom prst="rect">
            <a:avLst/>
          </a:pr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9061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Tahoma"/>
                <a:ea typeface="Tahoma"/>
                <a:cs typeface="Tahoma"/>
                <a:sym typeface="Tahoma"/>
              </a:rPr>
              <a:t>Overall Project Completion: </a:t>
            </a:r>
            <a:r>
              <a:rPr i="1"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XX%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347294" y="2692297"/>
            <a:ext cx="5064760" cy="267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Clearly differentiate between completed, in-progress and pending development. Do not present proposed work as completed work.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5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258" name="Google Shape;258;p15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16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265" name="Google Shape;265;p16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267" name="Google Shape;267;p16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Working Prototype / Demonstration</a:t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321894" y="1049970"/>
            <a:ext cx="1489075" cy="107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Implemented Features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Working Feature 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Working Feature 2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Working Feature 3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Working Feature 4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2778822" y="1237398"/>
            <a:ext cx="2672080" cy="215265"/>
          </a:xfrm>
          <a:custGeom>
            <a:rect b="b" l="l" r="r" t="t"/>
            <a:pathLst>
              <a:path extrusionOk="0" h="215265" w="2672079">
                <a:moveTo>
                  <a:pt x="262120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2672006" y="215238"/>
                </a:lnTo>
                <a:lnTo>
                  <a:pt x="2672006" y="50800"/>
                </a:lnTo>
                <a:lnTo>
                  <a:pt x="2667998" y="31075"/>
                </a:lnTo>
                <a:lnTo>
                  <a:pt x="2657083" y="14922"/>
                </a:lnTo>
                <a:lnTo>
                  <a:pt x="2640930" y="4008"/>
                </a:lnTo>
                <a:lnTo>
                  <a:pt x="2621205" y="0"/>
                </a:lnTo>
                <a:close/>
              </a:path>
            </a:pathLst>
          </a:cu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2816923" y="1224848"/>
            <a:ext cx="1256665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Prototype / Output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72" name="Google Shape;272;p16"/>
          <p:cNvGrpSpPr/>
          <p:nvPr/>
        </p:nvGrpSpPr>
        <p:grpSpPr>
          <a:xfrm>
            <a:off x="2778822" y="1439989"/>
            <a:ext cx="2672080" cy="966293"/>
            <a:chOff x="2778822" y="1439989"/>
            <a:chExt cx="2672080" cy="966293"/>
          </a:xfrm>
        </p:grpSpPr>
        <p:pic>
          <p:nvPicPr>
            <p:cNvPr id="273" name="Google Shape;27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78822" y="1439989"/>
              <a:ext cx="2672006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16"/>
            <p:cNvSpPr/>
            <p:nvPr/>
          </p:nvSpPr>
          <p:spPr>
            <a:xfrm>
              <a:off x="2778822" y="1484263"/>
              <a:ext cx="2672080" cy="922019"/>
            </a:xfrm>
            <a:custGeom>
              <a:rect b="b" l="l" r="r" t="t"/>
              <a:pathLst>
                <a:path extrusionOk="0" h="922019" w="2672079">
                  <a:moveTo>
                    <a:pt x="2672006" y="0"/>
                  </a:moveTo>
                  <a:lnTo>
                    <a:pt x="0" y="0"/>
                  </a:lnTo>
                  <a:lnTo>
                    <a:pt x="0" y="870926"/>
                  </a:lnTo>
                  <a:lnTo>
                    <a:pt x="4008" y="890650"/>
                  </a:lnTo>
                  <a:lnTo>
                    <a:pt x="14922" y="906803"/>
                  </a:lnTo>
                  <a:lnTo>
                    <a:pt x="31075" y="917718"/>
                  </a:lnTo>
                  <a:lnTo>
                    <a:pt x="50800" y="921726"/>
                  </a:lnTo>
                  <a:lnTo>
                    <a:pt x="2621205" y="921726"/>
                  </a:lnTo>
                  <a:lnTo>
                    <a:pt x="2640930" y="917718"/>
                  </a:lnTo>
                  <a:lnTo>
                    <a:pt x="2657083" y="906803"/>
                  </a:lnTo>
                  <a:lnTo>
                    <a:pt x="2667998" y="890650"/>
                  </a:lnTo>
                  <a:lnTo>
                    <a:pt x="2672006" y="870926"/>
                  </a:lnTo>
                  <a:lnTo>
                    <a:pt x="2672006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16"/>
          <p:cNvSpPr txBox="1"/>
          <p:nvPr/>
        </p:nvSpPr>
        <p:spPr>
          <a:xfrm>
            <a:off x="2988551" y="1750236"/>
            <a:ext cx="2251710" cy="363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-680085" lvl="0" marL="69215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Insert screenshot / output / prototype evidence here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347294" y="2477059"/>
            <a:ext cx="488442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Demonstrate the actual working implementation. Students should preferably provide a live demonstration in addition to screenshots wherever applicable.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278" name="Google Shape;278;p16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17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285" name="Google Shape;285;p17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287" name="Google Shape;287;p17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Testing, Results &amp; Validation</a:t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9" name="Google Shape;289;p17"/>
          <p:cNvGraphicFramePr/>
          <p:nvPr/>
        </p:nvGraphicFramePr>
        <p:xfrm>
          <a:off x="460781" y="10666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{94D6C5B7-167B-46FB-B2D7-D431D008460F}</a:tableStyleId>
              </a:tblPr>
              <a:tblGrid>
                <a:gridCol w="780425"/>
                <a:gridCol w="1356350"/>
                <a:gridCol w="1715125"/>
                <a:gridCol w="986800"/>
              </a:tblGrid>
              <a:tr h="22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Test / Module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Result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952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Observed Result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82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33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output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Observed output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482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5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/>
                </a:tc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output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/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Observed output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/>
                </a:tc>
                <a:tc>
                  <a:txBody>
                    <a:bodyPr/>
                    <a:lstStyle/>
                    <a:p>
                      <a:pPr indent="0" lvl="0" marL="482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/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 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 output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Observed output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82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17"/>
          <p:cNvSpPr/>
          <p:nvPr/>
        </p:nvSpPr>
        <p:spPr>
          <a:xfrm>
            <a:off x="309193" y="2167686"/>
            <a:ext cx="5142230" cy="215265"/>
          </a:xfrm>
          <a:custGeom>
            <a:rect b="b" l="l" r="r" t="t"/>
            <a:pathLst>
              <a:path extrusionOk="0" h="215264" w="514223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141666" y="215238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347294" y="2155123"/>
            <a:ext cx="1261745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Results / Validation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92" name="Google Shape;292;p17"/>
          <p:cNvGrpSpPr/>
          <p:nvPr/>
        </p:nvGrpSpPr>
        <p:grpSpPr>
          <a:xfrm>
            <a:off x="309193" y="2370264"/>
            <a:ext cx="5142230" cy="304632"/>
            <a:chOff x="309193" y="2370264"/>
            <a:chExt cx="5142230" cy="304632"/>
          </a:xfrm>
        </p:grpSpPr>
        <p:pic>
          <p:nvPicPr>
            <p:cNvPr id="293" name="Google Shape;29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3" y="2370264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17"/>
            <p:cNvSpPr/>
            <p:nvPr/>
          </p:nvSpPr>
          <p:spPr>
            <a:xfrm>
              <a:off x="309193" y="2414546"/>
              <a:ext cx="5142230" cy="260350"/>
            </a:xfrm>
            <a:custGeom>
              <a:rect b="b" l="l" r="r" t="t"/>
              <a:pathLst>
                <a:path extrusionOk="0" h="260350" w="5142230">
                  <a:moveTo>
                    <a:pt x="5141666" y="0"/>
                  </a:moveTo>
                  <a:lnTo>
                    <a:pt x="0" y="0"/>
                  </a:lnTo>
                  <a:lnTo>
                    <a:pt x="0" y="209425"/>
                  </a:lnTo>
                  <a:lnTo>
                    <a:pt x="4008" y="229150"/>
                  </a:lnTo>
                  <a:lnTo>
                    <a:pt x="14922" y="245303"/>
                  </a:lnTo>
                  <a:lnTo>
                    <a:pt x="31075" y="256217"/>
                  </a:lnTo>
                  <a:lnTo>
                    <a:pt x="50800" y="260225"/>
                  </a:lnTo>
                  <a:lnTo>
                    <a:pt x="5090865" y="260225"/>
                  </a:lnTo>
                  <a:lnTo>
                    <a:pt x="5110590" y="256217"/>
                  </a:lnTo>
                  <a:lnTo>
                    <a:pt x="5126743" y="245303"/>
                  </a:lnTo>
                  <a:lnTo>
                    <a:pt x="5137657" y="229150"/>
                  </a:lnTo>
                  <a:lnTo>
                    <a:pt x="5141666" y="20942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" name="Google Shape;295;p17"/>
          <p:cNvSpPr txBox="1"/>
          <p:nvPr/>
        </p:nvSpPr>
        <p:spPr>
          <a:xfrm>
            <a:off x="347294" y="2396221"/>
            <a:ext cx="4803775" cy="60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Mention suitable performance metrics, experimental results, accuracy, response time, test cases, validation results or other measurable observations.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61620" rtl="0" algn="l">
              <a:lnSpc>
                <a:spcPct val="11875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Results should be supported by actual testing or experimental evidence rather than assumptions.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297" name="Google Shape;297;p17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2865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8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304" name="Google Shape;304;p18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306" name="Google Shape;306;p18"/>
          <p:cNvSpPr txBox="1"/>
          <p:nvPr>
            <p:ph type="title"/>
          </p:nvPr>
        </p:nvSpPr>
        <p:spPr>
          <a:xfrm>
            <a:off x="347294" y="302841"/>
            <a:ext cx="36639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Repository &amp; Development Activity</a:t>
            </a:r>
            <a:endParaRPr/>
          </a:p>
        </p:txBody>
      </p:sp>
      <p:sp>
        <p:nvSpPr>
          <p:cNvPr id="307" name="Google Shape;307;p18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321894" y="913419"/>
            <a:ext cx="2322195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Repository Information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GitHub Link: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Repository URL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README.md: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Updated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Contributors: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 Members Added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Repository Status: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Updated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Branches: </a:t>
            </a: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If Applicable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2841904" y="913419"/>
            <a:ext cx="2212975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Development Activity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Regular commits maintained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Meaningful commit messages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Individual contribution visible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Latest implementation uploaded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Documentation maintained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8"/>
          <p:cNvSpPr txBox="1"/>
          <p:nvPr/>
        </p:nvSpPr>
        <p:spPr>
          <a:xfrm>
            <a:off x="601344" y="2280869"/>
            <a:ext cx="4557395" cy="371475"/>
          </a:xfrm>
          <a:prstGeom prst="rect">
            <a:avLst/>
          </a:pr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085" rtl="0" algn="ctr">
              <a:lnSpc>
                <a:spcPct val="115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Requirement: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All team members must be contributors and must </a:t>
            </a: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commit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4572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100">
                <a:latin typeface="Tahoma"/>
                <a:ea typeface="Tahoma"/>
                <a:cs typeface="Tahoma"/>
                <a:sym typeface="Tahoma"/>
              </a:rPr>
              <a:t>individually using their own GitHub accounts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.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347294" y="2681897"/>
            <a:ext cx="452310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Show repository activity, README, contributor list and commit history during the presentation.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8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5437802" y="3133522"/>
            <a:ext cx="227329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E294E"/>
                </a:solidFill>
                <a:latin typeface="Arial"/>
                <a:ea typeface="Arial"/>
                <a:cs typeface="Arial"/>
                <a:sym typeface="Arial"/>
              </a:rPr>
              <a:t>12/15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" name="Google Shape;319;p19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320" name="Google Shape;320;p19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322" name="Google Shape;322;p19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Individual Contribution</a:t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4" name="Google Shape;324;p19"/>
          <p:cNvGraphicFramePr/>
          <p:nvPr/>
        </p:nvGraphicFramePr>
        <p:xfrm>
          <a:off x="460781" y="9966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{94D6C5B7-167B-46FB-B2D7-D431D008460F}</a:tableStyleId>
              </a:tblPr>
              <a:tblGrid>
                <a:gridCol w="666125"/>
                <a:gridCol w="740400"/>
                <a:gridCol w="2355850"/>
                <a:gridCol w="1076950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Member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371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Technical Contribution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71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00380" marR="16891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GitHub Commits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225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25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25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3371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Specific technical work completed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25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42481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XX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525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 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3371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Specific technical work completed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42481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XX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/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 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3371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Specific technical work completed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42481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XX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/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 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057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371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Specific technical work completed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42481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800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XX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75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" name="Google Shape;325;p19"/>
          <p:cNvSpPr/>
          <p:nvPr/>
        </p:nvSpPr>
        <p:spPr>
          <a:xfrm>
            <a:off x="309193" y="2352306"/>
            <a:ext cx="5142230" cy="187960"/>
          </a:xfrm>
          <a:custGeom>
            <a:rect b="b" l="l" r="r" t="t"/>
            <a:pathLst>
              <a:path extrusionOk="0" h="187960" w="514223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347294" y="2331310"/>
            <a:ext cx="1313815" cy="207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Individual Evaluation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27" name="Google Shape;327;p19"/>
          <p:cNvGrpSpPr/>
          <p:nvPr/>
        </p:nvGrpSpPr>
        <p:grpSpPr>
          <a:xfrm>
            <a:off x="309193" y="2527477"/>
            <a:ext cx="5142230" cy="204301"/>
            <a:chOff x="309193" y="2527477"/>
            <a:chExt cx="5142230" cy="204301"/>
          </a:xfrm>
        </p:grpSpPr>
        <p:pic>
          <p:nvPicPr>
            <p:cNvPr id="328" name="Google Shape;32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3" y="2527477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9"/>
            <p:cNvSpPr/>
            <p:nvPr/>
          </p:nvSpPr>
          <p:spPr>
            <a:xfrm>
              <a:off x="309193" y="2571758"/>
              <a:ext cx="5142230" cy="160020"/>
            </a:xfrm>
            <a:custGeom>
              <a:rect b="b" l="l" r="r" t="t"/>
              <a:pathLst>
                <a:path extrusionOk="0" h="160019" w="5142230">
                  <a:moveTo>
                    <a:pt x="5141666" y="0"/>
                  </a:moveTo>
                  <a:lnTo>
                    <a:pt x="0" y="0"/>
                  </a:lnTo>
                  <a:lnTo>
                    <a:pt x="0" y="108906"/>
                  </a:lnTo>
                  <a:lnTo>
                    <a:pt x="4008" y="128631"/>
                  </a:lnTo>
                  <a:lnTo>
                    <a:pt x="14922" y="144784"/>
                  </a:lnTo>
                  <a:lnTo>
                    <a:pt x="31075" y="155698"/>
                  </a:lnTo>
                  <a:lnTo>
                    <a:pt x="50800" y="159706"/>
                  </a:lnTo>
                  <a:lnTo>
                    <a:pt x="5090865" y="159706"/>
                  </a:lnTo>
                  <a:lnTo>
                    <a:pt x="5110590" y="155698"/>
                  </a:lnTo>
                  <a:lnTo>
                    <a:pt x="5126743" y="144784"/>
                  </a:lnTo>
                  <a:lnTo>
                    <a:pt x="5137657" y="128631"/>
                  </a:lnTo>
                  <a:lnTo>
                    <a:pt x="5141666" y="10890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19"/>
          <p:cNvSpPr txBox="1"/>
          <p:nvPr/>
        </p:nvSpPr>
        <p:spPr>
          <a:xfrm>
            <a:off x="347294" y="2553435"/>
            <a:ext cx="49625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Every member should be prepared to explain and demonstrate their own technical contribution to the project.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3335" rtl="0" algn="l">
              <a:lnSpc>
                <a:spcPct val="11875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Contributions should be specific and verifiable. Avoid generic statements such as “helped in coding” or “worked on documentation”.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9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332" name="Google Shape;332;p19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p20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339" name="Google Shape;339;p20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341" name="Google Shape;341;p20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Challenges, Remaining Work &amp; Phase-III Roadmap</a:t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321894" y="1000580"/>
            <a:ext cx="2268220" cy="1529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Challenges Faced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Technical challenge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Integration challenge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Data / implementation challenge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Solutions / Learning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Solution adopted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Technical learning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2968117" y="1000580"/>
            <a:ext cx="20129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Phase-III Roadmap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Complete remaining modules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System integration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Testing / optimization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Final deployment / validation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Documentation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347294" y="2551138"/>
            <a:ext cx="475043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Explain genuine technical challenges and provide a realistic roadmap for completing the project before Phase-III.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347" name="Google Shape;347;p20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graphice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3" name="Google Shape;353;p21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354" name="Google Shape;354;p21"/>
            <p:cNvSpPr/>
            <p:nvPr/>
          </p:nvSpPr>
          <p:spPr>
            <a:xfrm>
              <a:off x="5399392" y="293281"/>
              <a:ext cx="223520" cy="0"/>
            </a:xfrm>
            <a:custGeom>
              <a:rect b="b" l="l" r="r" t="t"/>
              <a:pathLst>
                <a:path extrusionOk="0" h="120000"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5620054" y="72605"/>
              <a:ext cx="0" cy="223520"/>
            </a:xfrm>
            <a:custGeom>
              <a:rect b="b" l="l" r="r" t="t"/>
              <a:pathLst>
                <a:path extrusionOk="0" h="223520" w="12000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$PPTXTitle" id="356" name="Google Shape;356;p21"/>
          <p:cNvSpPr txBox="1"/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Outcomes &amp; References</a:t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359994" y="678522"/>
            <a:ext cx="5039995" cy="0"/>
          </a:xfrm>
          <a:custGeom>
            <a:rect b="b" l="l" r="r" t="t"/>
            <a:pathLst>
              <a:path extrusionOk="0" h="120000"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noFill/>
          <a:ln cap="flat" cmpd="sng" w="11375">
            <a:solidFill>
              <a:srgbClr val="1337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"/>
          <p:cNvSpPr txBox="1"/>
          <p:nvPr>
            <p:ph idx="1" type="body"/>
          </p:nvPr>
        </p:nvSpPr>
        <p:spPr>
          <a:xfrm>
            <a:off x="321894" y="913470"/>
            <a:ext cx="2322195" cy="145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Final Outcomes</a:t>
            </a:r>
            <a:endParaRPr/>
          </a:p>
          <a:p>
            <a:pPr indent="-177165" lvl="0" marL="314960" marR="249554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b="0"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Complete working prototype / system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b="0"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Measurable technical results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b="0"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Practical / industry applicability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b="0"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Deployment / scalability potential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165" lvl="0" marL="31496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Lucida Sans"/>
              <a:buChar char="►"/>
            </a:pPr>
            <a:r>
              <a:rPr b="0"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Research / publication potential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3018497" y="913470"/>
            <a:ext cx="1951989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33768"/>
                </a:solidFill>
                <a:latin typeface="Tahoma"/>
                <a:ea typeface="Tahoma"/>
                <a:cs typeface="Tahoma"/>
                <a:sym typeface="Tahoma"/>
              </a:rPr>
              <a:t>References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Research paper / journal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Research paper / conference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Book / standard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Official documentation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77800" lvl="0" marL="290195" rtl="0" algn="l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Clr>
                <a:srgbClr val="133768"/>
              </a:buClr>
              <a:buSzPts val="1100"/>
              <a:buFont typeface="Tahoma"/>
              <a:buAutoNum type="arabicPeriod"/>
            </a:pPr>
            <a:r>
              <a:rPr i="1"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Dataset / repository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3230714" y="2357767"/>
            <a:ext cx="1969770" cy="371475"/>
          </a:xfrm>
          <a:prstGeom prst="rect">
            <a:avLst/>
          </a:prstGeom>
          <a:solidFill>
            <a:srgbClr val="13376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6355" rtl="0" algn="ctr">
              <a:lnSpc>
                <a:spcPct val="115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Thank You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indent="0" lvl="0" marL="4572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Questions &amp; Suggestions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347294" y="2676194"/>
            <a:ext cx="4726940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Brief Discussion: Conclude with the tangible final outcome expected from the project and cite the major technical/research resources used.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 txBox="1"/>
          <p:nvPr>
            <p:ph idx="11" type="ft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&amp; Engineering — Graphic Era (Deemed to be University)</a:t>
            </a:r>
            <a:endParaRPr/>
          </a:p>
        </p:txBody>
      </p:sp>
      <p:sp>
        <p:nvSpPr>
          <p:cNvPr id="363" name="Google Shape;363;p21"/>
          <p:cNvSpPr txBox="1"/>
          <p:nvPr>
            <p:ph idx="12" type="sldNum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